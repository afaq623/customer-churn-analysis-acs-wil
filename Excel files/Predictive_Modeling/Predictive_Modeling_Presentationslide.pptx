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dictive Modeling" id="{4a5a3e7b-6217-6632-40b4-20ba9117c1e0}">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This video presents the predictive modelling part of my project: a neural network that predicts which telecommunications customers will leave, which we call churn. Let me start with the dataset. It contains 7,043 customers, and 26.5 percent of them churned, so roughly one in four. Each customer has nine attributes: gender, senior citizen status, dependents, tenure in months, phone and internet service, contract, and monthly charges. Once the categories are encoded, these nine attributes become twelve model inputs. The data was prepared in the script data_preprocessing.py. Categories were encoded as zeros and ones, and the data was split eighty-twenty, stratified on churn, so both parts keep the same churn rate. That gives 5,634 customers for training and 1,409 customers for testing that the model never sees while it learns. The two numeric fields were standardised using the training data only, so nothing from the test set leaks into training. The raw data has no missing values. All of this, with the code and results, is in the Predictive Modeling folder of my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feature selection. I kept all nine attributes, but I wanted to know which of them the model really relies on. To measure this I used permutation importance: I shuffle one factor at a time in the test data and see how much the model's AUC drops. A big drop means the model depends on that factor. This chart shows the result. Tenure is by far the most important, with a drop of 0.21, followed by monthly charges at 0.11. Every other factor is close to zero, including contract type, internet service and gender. In fact, a simple logistic regression using only four inputs, tenure, monthly charges, senior citizen and dependents, reaches an AUC of 0.80, almost the same as using all twelve. So the model is driven mainly by how long customers have stayed and how much they pay. Contract type having no effect is unusual for telecommunications data, and I will come back to it in the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architecture of the neural network. It has an input layer with twelve neurons, one for each input. The first hidden layer has sixteen neurons and the second has eight, and both use the ReLU activation, which trains quickly. The output layer has one neuron with a sigmoid activation, which produces a probability between zero and one: the chance that this customer will churn. Altogether the network has 353 trainable parameters. I kept it small on purpose. With about fifty-six hundred training customers, a large network could simply memorise the data. I also tested a bigger network with sixty-four and thirty-two neurons plus dropout, and it performed no better, so the smaller design was kept. For training I used the Adam optimiser, which adapts the learning speed automatically, binary cross-entropy as the loss function, which suits a yes or no prediction, and a batch size of 32. The full description, with the reasons for each choice, is in the document ANN_Architecture.docx.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training process. The model trained for up to fifty epochs, with twenty percent of the training data held out for validation, and early stopping that would keep the best version if the validation loss stopped improving. On the right is the loss, the model's error. It starts at about 0.55, falls quickly in the first five epochs, and settles at about 0.43 by epoch fifteen. On the left is accuracy, which rises and levels off at about 79 percent. The most important thing in this chart is that the training and validation lines stay almost on top of each other. That means the model is learning real patterns, and is not just memorising the training data, which would show up as the validation line getting worse. The final results at epoch fifty are a training loss of 0.4289 with accuracy of 79.7 percent, a validation loss of 0.4331 with accuracy of 79.2 percent, and on the test set an accuracy of 78.2 percent. I also retrained with five different random seeds, and the AUC stayed at 80.6 percent, within 0.1 of a point, so the result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evaluation, on the 1,409 test customers. This table compares three setups. First, the neural network at the default threshold of 0.50: accuracy 78.2 percent, precision 60.7, recall 50.8, F1 55.3 and AUC 80.5. Recall is the share of real leavers we catch, and at the default threshold it is only about half. So I tuned the threshold on validation data, not on the test set, and chose 0.39. In the second row, recall rises to 63.9 percent, with precision of 55.2 and F1 of 59.2. We contact more customers who would have stayed, but we catch many more of those who leave. Because losing a customer usually costs more than a retention offer, this is the setting I recommend. The third row is a simple logistic regression. It reaches almost the same AUC, 80.7 percent. This tells us the limit comes from the information in the data, not from the design of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look at accuracy in more detail. The confusion matrix on the left, at threshold 0.50, shows what the model got right and wrong. In the top row, 912 customers who stayed were correctly identified, and 123 were wrongly flagged as leavers. In the bottom row, 184 leavers were missed, and 190 were caught. So of the 374 customers who really churned, the model caught 190. Overall accuracy is 78.2 percent. The ROC curve in the middle plots the catch rate against the false alarm rate as the threshold changes. The curve bends well above the dashed line, which is random guessing, and the area under it, the AUC, is 0.805. Put simply, if I pick one customer who left and one who stayed, the model gives the leaver the higher risk score about eighty percent of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churn predictions themselves. For every test customer the model gives a churn probability, and above the threshold we flag the customer for action. This table shows three examples. The first is a senior customer with one month of tenure paying 79 dollars a month: the model gives an 86.1 percent chance of churn, and the customer did leave. The second, with 35 months and 101 dollars, is right at the threshold with 39.1 percent, and also left. The third, with 72 months paying only 20 dollars, has a probability of 0.4 percent, and stayed. The heatmap shows the pattern the model has learned: churn by tenure and monthly charges. New customers in their first year paying over 95 dollars churn at 80.6 percent, while customers with more than four years paying under 40 dollars churn at only 1.5 percent. Using the tuned threshold, 315 first-year customers in the test set are flagged, and the business could refresh this list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limitations. First, the data has only nine attributes, and only four of them relate to churn, so the model has limited information. Second, contract type and internet service show no relationship with churn, which is unusual, so I recommend checking those fields with the data provider. Third, there are duplicate records: 302 in the raw data, and 93 of the test customers are identical to a training customer. When I remove them, the AUC falls from 0.805 to 0.791, so my headline figure is slightly optimistic. A customer ID would let us remove duplicates properly. Fourth, the model rarely detects long-standing customers who leave; it catches only about twelve percent of them, because tenure and charges say little about why a loyal customer would go. Behavioural data, such as usage and support contacts, would help. To summarise, the neural network predicts churn with an AUC of about 80 percent and catches nearly two thirds of leavers at the tuned threshold. The next step is better data.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tx2"/>
                </a:solidFill>
              </a:rPr>
              <a:t>Customer churn prediction with an ANN  |  Predictive Modeling</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Dataset overview</a:t>
            </a:r>
            <a:endParaRPr lang="en-US" sz="3400" dirty="0"/>
          </a:p>
        </p:txBody>
      </p:sp>
      <p:sp>
        <p:nvSpPr>
          <p:cNvPr id="4" name="Shape 1"/>
          <p:cNvSpPr/>
          <p:nvPr/>
        </p:nvSpPr>
        <p:spPr>
          <a:xfrm>
            <a:off x="457200" y="1325880"/>
            <a:ext cx="1920240" cy="1554480"/>
          </a:xfrm>
          <a:prstGeom prst="roundRect">
            <a:avLst>
              <a:gd name="adj" fmla="val 5882"/>
            </a:avLst>
          </a:prstGeom>
          <a:solidFill>
            <a:schemeClr val="bg2"/>
          </a:solidFill>
          <a:ln/>
        </p:spPr>
      </p:sp>
      <p:sp>
        <p:nvSpPr>
          <p:cNvPr id="5" name="Text 2"/>
          <p:cNvSpPr txBox="1"/>
          <p:nvPr/>
        </p:nvSpPr>
        <p:spPr>
          <a:xfrm>
            <a:off x="594360" y="1399032"/>
            <a:ext cx="1645920" cy="777240"/>
          </a:xfrm>
          <a:prstGeom prst="rect">
            <a:avLst/>
          </a:prstGeom>
          <a:noFill/>
          <a:ln/>
        </p:spPr>
        <p:txBody>
          <a:bodyPr wrap="square" lIns="0" tIns="0" rIns="0" bIns="0" rtlCol="0" anchor="ctr"/>
          <a:lstStyle/>
          <a:p>
            <a:pPr indent="0" marL="0">
              <a:buNone/>
            </a:pPr>
            <a:r>
              <a:rPr lang="en-US" sz="3200" b="1" dirty="0">
                <a:solidFill>
                  <a:schemeClr val="accent1"/>
                </a:solidFill>
              </a:rPr>
              <a:t>7,043</a:t>
            </a:r>
            <a:endParaRPr lang="en-US" sz="3200" dirty="0"/>
          </a:p>
        </p:txBody>
      </p:sp>
      <p:sp>
        <p:nvSpPr>
          <p:cNvPr id="6" name="Text 3"/>
          <p:cNvSpPr txBox="1"/>
          <p:nvPr/>
        </p:nvSpPr>
        <p:spPr>
          <a:xfrm>
            <a:off x="594360" y="2227478"/>
            <a:ext cx="1645920" cy="590702"/>
          </a:xfrm>
          <a:prstGeom prst="rect">
            <a:avLst/>
          </a:prstGeom>
          <a:noFill/>
          <a:ln/>
        </p:spPr>
        <p:txBody>
          <a:bodyPr wrap="square" lIns="0" tIns="0" rIns="0" bIns="0" rtlCol="0" anchor="t"/>
          <a:lstStyle/>
          <a:p>
            <a:pPr indent="0" marL="0">
              <a:buNone/>
            </a:pPr>
            <a:r>
              <a:rPr lang="en-US" sz="1400" dirty="0">
                <a:solidFill>
                  <a:schemeClr val="tx2"/>
                </a:solidFill>
              </a:rPr>
              <a:t>customers in the dataset</a:t>
            </a:r>
            <a:endParaRPr lang="en-US" sz="1400" dirty="0"/>
          </a:p>
        </p:txBody>
      </p:sp>
      <p:sp>
        <p:nvSpPr>
          <p:cNvPr id="7" name="Shape 4"/>
          <p:cNvSpPr/>
          <p:nvPr/>
        </p:nvSpPr>
        <p:spPr>
          <a:xfrm>
            <a:off x="2560320" y="1325880"/>
            <a:ext cx="1920240" cy="1554480"/>
          </a:xfrm>
          <a:prstGeom prst="roundRect">
            <a:avLst>
              <a:gd name="adj" fmla="val 5882"/>
            </a:avLst>
          </a:prstGeom>
          <a:solidFill>
            <a:schemeClr val="bg2"/>
          </a:solidFill>
          <a:ln/>
        </p:spPr>
      </p:sp>
      <p:sp>
        <p:nvSpPr>
          <p:cNvPr id="8" name="Text 5"/>
          <p:cNvSpPr txBox="1"/>
          <p:nvPr/>
        </p:nvSpPr>
        <p:spPr>
          <a:xfrm>
            <a:off x="2697480" y="1399032"/>
            <a:ext cx="1645920" cy="777240"/>
          </a:xfrm>
          <a:prstGeom prst="rect">
            <a:avLst/>
          </a:prstGeom>
          <a:noFill/>
          <a:ln/>
        </p:spPr>
        <p:txBody>
          <a:bodyPr wrap="square" lIns="0" tIns="0" rIns="0" bIns="0" rtlCol="0" anchor="ctr"/>
          <a:lstStyle/>
          <a:p>
            <a:pPr indent="0" marL="0">
              <a:buNone/>
            </a:pPr>
            <a:r>
              <a:rPr lang="en-US" sz="3200" b="1" dirty="0">
                <a:solidFill>
                  <a:schemeClr val="accent2"/>
                </a:solidFill>
              </a:rPr>
              <a:t>26.5%</a:t>
            </a:r>
            <a:endParaRPr lang="en-US" sz="3200" dirty="0"/>
          </a:p>
        </p:txBody>
      </p:sp>
      <p:sp>
        <p:nvSpPr>
          <p:cNvPr id="9" name="Text 6"/>
          <p:cNvSpPr txBox="1"/>
          <p:nvPr/>
        </p:nvSpPr>
        <p:spPr>
          <a:xfrm>
            <a:off x="2697480" y="2227478"/>
            <a:ext cx="1645920" cy="590702"/>
          </a:xfrm>
          <a:prstGeom prst="rect">
            <a:avLst/>
          </a:prstGeom>
          <a:noFill/>
          <a:ln/>
        </p:spPr>
        <p:txBody>
          <a:bodyPr wrap="square" lIns="0" tIns="0" rIns="0" bIns="0" rtlCol="0" anchor="t"/>
          <a:lstStyle/>
          <a:p>
            <a:pPr indent="0" marL="0">
              <a:buNone/>
            </a:pPr>
            <a:r>
              <a:rPr lang="en-US" sz="1400" dirty="0">
                <a:solidFill>
                  <a:schemeClr val="tx2"/>
                </a:solidFill>
              </a:rPr>
              <a:t>churned (about 1 in 4)</a:t>
            </a:r>
            <a:endParaRPr lang="en-US" sz="1400" dirty="0"/>
          </a:p>
        </p:txBody>
      </p:sp>
      <p:sp>
        <p:nvSpPr>
          <p:cNvPr id="10" name="Shape 7"/>
          <p:cNvSpPr/>
          <p:nvPr/>
        </p:nvSpPr>
        <p:spPr>
          <a:xfrm>
            <a:off x="4663440" y="1325880"/>
            <a:ext cx="1920240" cy="1554480"/>
          </a:xfrm>
          <a:prstGeom prst="roundRect">
            <a:avLst>
              <a:gd name="adj" fmla="val 5882"/>
            </a:avLst>
          </a:prstGeom>
          <a:solidFill>
            <a:schemeClr val="bg2"/>
          </a:solidFill>
          <a:ln/>
        </p:spPr>
      </p:sp>
      <p:sp>
        <p:nvSpPr>
          <p:cNvPr id="11" name="Text 8"/>
          <p:cNvSpPr txBox="1"/>
          <p:nvPr/>
        </p:nvSpPr>
        <p:spPr>
          <a:xfrm>
            <a:off x="4800600" y="1399032"/>
            <a:ext cx="1645920" cy="777240"/>
          </a:xfrm>
          <a:prstGeom prst="rect">
            <a:avLst/>
          </a:prstGeom>
          <a:noFill/>
          <a:ln/>
        </p:spPr>
        <p:txBody>
          <a:bodyPr wrap="square" lIns="0" tIns="0" rIns="0" bIns="0" rtlCol="0" anchor="ctr"/>
          <a:lstStyle/>
          <a:p>
            <a:pPr indent="0" marL="0">
              <a:buNone/>
            </a:pPr>
            <a:r>
              <a:rPr lang="en-US" sz="3200" b="1" dirty="0">
                <a:solidFill>
                  <a:schemeClr val="accent1"/>
                </a:solidFill>
              </a:rPr>
              <a:t>9 → 12</a:t>
            </a:r>
            <a:endParaRPr lang="en-US" sz="3200" dirty="0"/>
          </a:p>
        </p:txBody>
      </p:sp>
      <p:sp>
        <p:nvSpPr>
          <p:cNvPr id="12" name="Text 9"/>
          <p:cNvSpPr txBox="1"/>
          <p:nvPr/>
        </p:nvSpPr>
        <p:spPr>
          <a:xfrm>
            <a:off x="4800600" y="2227478"/>
            <a:ext cx="1645920" cy="590702"/>
          </a:xfrm>
          <a:prstGeom prst="rect">
            <a:avLst/>
          </a:prstGeom>
          <a:noFill/>
          <a:ln/>
        </p:spPr>
        <p:txBody>
          <a:bodyPr wrap="square" lIns="0" tIns="0" rIns="0" bIns="0" rtlCol="0" anchor="t"/>
          <a:lstStyle/>
          <a:p>
            <a:pPr indent="0" marL="0">
              <a:buNone/>
            </a:pPr>
            <a:r>
              <a:rPr lang="en-US" sz="1400" dirty="0">
                <a:solidFill>
                  <a:schemeClr val="tx2"/>
                </a:solidFill>
              </a:rPr>
              <a:t>attributes become model inputs</a:t>
            </a:r>
            <a:endParaRPr lang="en-US" sz="1400" dirty="0"/>
          </a:p>
        </p:txBody>
      </p:sp>
      <p:sp>
        <p:nvSpPr>
          <p:cNvPr id="13" name="Shape 10"/>
          <p:cNvSpPr/>
          <p:nvPr/>
        </p:nvSpPr>
        <p:spPr>
          <a:xfrm>
            <a:off x="6766560" y="1325880"/>
            <a:ext cx="1920240" cy="1554480"/>
          </a:xfrm>
          <a:prstGeom prst="roundRect">
            <a:avLst>
              <a:gd name="adj" fmla="val 5882"/>
            </a:avLst>
          </a:prstGeom>
          <a:solidFill>
            <a:schemeClr val="bg2"/>
          </a:solidFill>
          <a:ln/>
        </p:spPr>
      </p:sp>
      <p:sp>
        <p:nvSpPr>
          <p:cNvPr id="14" name="Text 11"/>
          <p:cNvSpPr txBox="1"/>
          <p:nvPr/>
        </p:nvSpPr>
        <p:spPr>
          <a:xfrm>
            <a:off x="6903720" y="1399032"/>
            <a:ext cx="1645920" cy="777240"/>
          </a:xfrm>
          <a:prstGeom prst="rect">
            <a:avLst/>
          </a:prstGeom>
          <a:noFill/>
          <a:ln/>
        </p:spPr>
        <p:txBody>
          <a:bodyPr wrap="square" lIns="0" tIns="0" rIns="0" bIns="0" rtlCol="0" anchor="ctr"/>
          <a:lstStyle/>
          <a:p>
            <a:pPr indent="0" marL="0">
              <a:buNone/>
            </a:pPr>
            <a:r>
              <a:rPr lang="en-US" sz="3200" b="1" dirty="0">
                <a:solidFill>
                  <a:schemeClr val="accent1"/>
                </a:solidFill>
              </a:rPr>
              <a:t>80 / 20</a:t>
            </a:r>
            <a:endParaRPr lang="en-US" sz="3200" dirty="0"/>
          </a:p>
        </p:txBody>
      </p:sp>
      <p:sp>
        <p:nvSpPr>
          <p:cNvPr id="15" name="Text 12"/>
          <p:cNvSpPr txBox="1"/>
          <p:nvPr/>
        </p:nvSpPr>
        <p:spPr>
          <a:xfrm>
            <a:off x="6903720" y="2227478"/>
            <a:ext cx="1645920" cy="590702"/>
          </a:xfrm>
          <a:prstGeom prst="rect">
            <a:avLst/>
          </a:prstGeom>
          <a:noFill/>
          <a:ln/>
        </p:spPr>
        <p:txBody>
          <a:bodyPr wrap="square" lIns="0" tIns="0" rIns="0" bIns="0" rtlCol="0" anchor="t"/>
          <a:lstStyle/>
          <a:p>
            <a:pPr indent="0" marL="0">
              <a:buNone/>
            </a:pPr>
            <a:r>
              <a:rPr lang="en-US" sz="1400" dirty="0">
                <a:solidFill>
                  <a:schemeClr val="tx2"/>
                </a:solidFill>
              </a:rPr>
              <a:t>train / test split (5,634 / 1,409)</a:t>
            </a:r>
            <a:endParaRPr lang="en-US" sz="1400" dirty="0"/>
          </a:p>
        </p:txBody>
      </p:sp>
      <p:sp>
        <p:nvSpPr>
          <p:cNvPr id="16" name="Shape 13"/>
          <p:cNvSpPr/>
          <p:nvPr/>
        </p:nvSpPr>
        <p:spPr>
          <a:xfrm>
            <a:off x="457200" y="3154680"/>
            <a:ext cx="8229600" cy="1325880"/>
          </a:xfrm>
          <a:prstGeom prst="roundRect">
            <a:avLst>
              <a:gd name="adj" fmla="val 6897"/>
            </a:avLst>
          </a:prstGeom>
          <a:solidFill>
            <a:schemeClr val="bg2"/>
          </a:solidFill>
          <a:ln/>
        </p:spPr>
      </p:sp>
      <p:sp>
        <p:nvSpPr>
          <p:cNvPr id="17" name="Text 14"/>
          <p:cNvSpPr txBox="1"/>
          <p:nvPr/>
        </p:nvSpPr>
        <p:spPr>
          <a:xfrm>
            <a:off x="685800" y="3273552"/>
            <a:ext cx="7772400" cy="109728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Data preparation (data_preprocessing.py)</a:t>
            </a:r>
            <a:endParaRPr lang="en-US" sz="1400" dirty="0"/>
          </a:p>
          <a:p>
            <a:pPr marL="342900" indent="-342900">
              <a:spcAft>
                <a:spcPts val="300"/>
              </a:spcAft>
              <a:buSzPct val="100000"/>
              <a:buChar char="•"/>
            </a:pPr>
            <a:r>
              <a:rPr lang="en-US" sz="1400" dirty="0">
                <a:solidFill>
                  <a:schemeClr val="tx1"/>
                </a:solidFill>
              </a:rPr>
              <a:t>Categories encoded as 0/1 or one-hot columns</a:t>
            </a:r>
            <a:endParaRPr lang="en-US" sz="1400" dirty="0"/>
          </a:p>
          <a:p>
            <a:pPr marL="342900" indent="-342900">
              <a:spcAft>
                <a:spcPts val="300"/>
              </a:spcAft>
              <a:buSzPct val="100000"/>
              <a:buChar char="•"/>
            </a:pPr>
            <a:r>
              <a:rPr lang="en-US" sz="1400" dirty="0">
                <a:solidFill>
                  <a:schemeClr val="tx1"/>
                </a:solidFill>
              </a:rPr>
              <a:t>80/20 split, stratified on churn, so both parts keep 26.5% churn</a:t>
            </a:r>
            <a:endParaRPr lang="en-US" sz="1400" dirty="0"/>
          </a:p>
          <a:p>
            <a:pPr marL="342900" indent="-342900">
              <a:spcAft>
                <a:spcPts val="300"/>
              </a:spcAft>
              <a:buSzPct val="100000"/>
              <a:buChar char="•"/>
            </a:pPr>
            <a:r>
              <a:rPr lang="en-US" sz="1400" dirty="0">
                <a:solidFill>
                  <a:schemeClr val="tx1"/>
                </a:solidFill>
              </a:rPr>
              <a:t>Scaler fitted on training data only; no missing values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Feature selection</a:t>
            </a:r>
            <a:endParaRPr lang="en-US" sz="3400" dirty="0"/>
          </a:p>
        </p:txBody>
      </p:sp>
      <p:sp>
        <p:nvSpPr>
          <p:cNvPr id="4" name="Shape 1"/>
          <p:cNvSpPr/>
          <p:nvPr/>
        </p:nvSpPr>
        <p:spPr>
          <a:xfrm>
            <a:off x="457200" y="1325880"/>
            <a:ext cx="3657600" cy="3200400"/>
          </a:xfrm>
          <a:prstGeom prst="roundRect">
            <a:avLst>
              <a:gd name="adj" fmla="val 2857"/>
            </a:avLst>
          </a:prstGeom>
          <a:solidFill>
            <a:schemeClr val="bg2"/>
          </a:solidFill>
          <a:ln/>
        </p:spPr>
      </p:sp>
      <p:sp>
        <p:nvSpPr>
          <p:cNvPr id="5" name="Text 2"/>
          <p:cNvSpPr txBox="1"/>
          <p:nvPr/>
        </p:nvSpPr>
        <p:spPr>
          <a:xfrm>
            <a:off x="640080" y="1508760"/>
            <a:ext cx="3291840" cy="283464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All 9 attributes used</a:t>
            </a:r>
            <a:endParaRPr lang="en-US" sz="1400" dirty="0"/>
          </a:p>
          <a:p>
            <a:pPr marL="342900" indent="-342900">
              <a:spcAft>
                <a:spcPts val="800"/>
              </a:spcAft>
              <a:buSzPct val="100000"/>
              <a:buChar char="•"/>
            </a:pPr>
            <a:r>
              <a:rPr lang="en-US" sz="1400" dirty="0">
                <a:solidFill>
                  <a:schemeClr val="tx1"/>
                </a:solidFill>
              </a:rPr>
              <a:t>Shuffling one factor at a time shows how much the model relies on it</a:t>
            </a:r>
            <a:endParaRPr lang="en-US" sz="1400" dirty="0"/>
          </a:p>
          <a:p>
            <a:pPr marL="342900" indent="-342900">
              <a:spcAft>
                <a:spcPts val="800"/>
              </a:spcAft>
              <a:buSzPct val="100000"/>
              <a:buChar char="•"/>
            </a:pPr>
            <a:r>
              <a:rPr lang="en-US" sz="1400" dirty="0">
                <a:solidFill>
                  <a:schemeClr val="tx1"/>
                </a:solidFill>
              </a:rPr>
              <a:t>Tenure and monthly charges dominate</a:t>
            </a:r>
            <a:endParaRPr lang="en-US" sz="1400" dirty="0"/>
          </a:p>
          <a:p>
            <a:pPr marL="342900" indent="-342900">
              <a:spcAft>
                <a:spcPts val="800"/>
              </a:spcAft>
              <a:buSzPct val="100000"/>
              <a:buChar char="•"/>
            </a:pPr>
            <a:r>
              <a:rPr lang="en-US" sz="1400" dirty="0">
                <a:solidFill>
                  <a:schemeClr val="tx1"/>
                </a:solidFill>
              </a:rPr>
              <a:t>Contract type, internet service and gender add almost nothing</a:t>
            </a:r>
            <a:endParaRPr lang="en-US" sz="1400" dirty="0"/>
          </a:p>
        </p:txBody>
      </p:sp>
      <p:pic>
        <p:nvPicPr>
          <p:cNvPr id="6" name="Image 0" descr="Permutation importance chart: tenure and monthly charges dominate">    </p:cNvPr>
          <p:cNvPicPr>
            <a:picLocks noChangeAspect="1"/>
          </p:cNvPicPr>
          <p:nvPr/>
        </p:nvPicPr>
        <p:blipFill>
          <a:blip r:embed="rId1"/>
          <a:stretch>
            <a:fillRect/>
          </a:stretch>
        </p:blipFill>
        <p:spPr>
          <a:xfrm>
            <a:off x="4297680" y="1463040"/>
            <a:ext cx="4389120" cy="2633472"/>
          </a:xfrm>
          <a:prstGeom prst="rect">
            <a:avLst/>
          </a:prstGeom>
        </p:spPr>
      </p:pic>
      <p:sp>
        <p:nvSpPr>
          <p:cNvPr id="7" name="Text 3"/>
          <p:cNvSpPr txBox="1"/>
          <p:nvPr/>
        </p:nvSpPr>
        <p:spPr>
          <a:xfrm>
            <a:off x="4297680" y="4160520"/>
            <a:ext cx="4389120" cy="274320"/>
          </a:xfrm>
          <a:prstGeom prst="rect">
            <a:avLst/>
          </a:prstGeom>
          <a:noFill/>
          <a:ln/>
        </p:spPr>
        <p:txBody>
          <a:bodyPr wrap="square" lIns="0" tIns="0" rIns="0" bIns="0" rtlCol="0" anchor="t"/>
          <a:lstStyle/>
          <a:p>
            <a:pPr indent="0" marL="0">
              <a:buNone/>
            </a:pPr>
            <a:r>
              <a:rPr lang="en-US" sz="1100" dirty="0">
                <a:solidFill>
                  <a:schemeClr val="tx2"/>
                </a:solidFill>
              </a:rPr>
              <a:t>Drop in test AUC when each factor is shuffled</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ANN architecture</a:t>
            </a:r>
            <a:endParaRPr lang="en-US" sz="3400" dirty="0"/>
          </a:p>
        </p:txBody>
      </p:sp>
      <p:pic>
        <p:nvPicPr>
          <p:cNvPr id="4" name="Image 0" descr="Network diagram: 12 inputs, 16 and 8 hidden neurons, 1 output">    </p:cNvPr>
          <p:cNvPicPr>
            <a:picLocks noChangeAspect="1"/>
          </p:cNvPicPr>
          <p:nvPr/>
        </p:nvPicPr>
        <p:blipFill>
          <a:blip r:embed="rId1"/>
          <a:stretch>
            <a:fillRect/>
          </a:stretch>
        </p:blipFill>
        <p:spPr>
          <a:xfrm>
            <a:off x="457200" y="1325880"/>
            <a:ext cx="5029200" cy="3127248"/>
          </a:xfrm>
          <a:prstGeom prst="rect">
            <a:avLst/>
          </a:prstGeom>
        </p:spPr>
      </p:pic>
      <p:sp>
        <p:nvSpPr>
          <p:cNvPr id="5" name="Shape 1"/>
          <p:cNvSpPr/>
          <p:nvPr/>
        </p:nvSpPr>
        <p:spPr>
          <a:xfrm>
            <a:off x="5760720" y="1325880"/>
            <a:ext cx="2926080" cy="960120"/>
          </a:xfrm>
          <a:prstGeom prst="roundRect">
            <a:avLst>
              <a:gd name="adj" fmla="val 9524"/>
            </a:avLst>
          </a:prstGeom>
          <a:solidFill>
            <a:schemeClr val="bg2"/>
          </a:solidFill>
          <a:ln/>
        </p:spPr>
      </p:sp>
      <p:sp>
        <p:nvSpPr>
          <p:cNvPr id="6" name="Text 2"/>
          <p:cNvSpPr txBox="1"/>
          <p:nvPr/>
        </p:nvSpPr>
        <p:spPr>
          <a:xfrm>
            <a:off x="5897880" y="1399032"/>
            <a:ext cx="2651760" cy="480060"/>
          </a:xfrm>
          <a:prstGeom prst="rect">
            <a:avLst/>
          </a:prstGeom>
          <a:noFill/>
          <a:ln/>
        </p:spPr>
        <p:txBody>
          <a:bodyPr wrap="square" lIns="0" tIns="0" rIns="0" bIns="0" rtlCol="0" anchor="ctr"/>
          <a:lstStyle/>
          <a:p>
            <a:pPr indent="0" marL="0">
              <a:buNone/>
            </a:pPr>
            <a:r>
              <a:rPr lang="en-US" sz="2600" b="1" dirty="0">
                <a:solidFill>
                  <a:schemeClr val="accent1"/>
                </a:solidFill>
              </a:rPr>
              <a:t>12 → 16 → 8 → 1</a:t>
            </a:r>
            <a:endParaRPr lang="en-US" sz="2600" dirty="0"/>
          </a:p>
        </p:txBody>
      </p:sp>
      <p:sp>
        <p:nvSpPr>
          <p:cNvPr id="7" name="Text 3"/>
          <p:cNvSpPr txBox="1"/>
          <p:nvPr/>
        </p:nvSpPr>
        <p:spPr>
          <a:xfrm>
            <a:off x="5897880" y="1882750"/>
            <a:ext cx="2651760" cy="364846"/>
          </a:xfrm>
          <a:prstGeom prst="rect">
            <a:avLst/>
          </a:prstGeom>
          <a:noFill/>
          <a:ln/>
        </p:spPr>
        <p:txBody>
          <a:bodyPr wrap="square" lIns="0" tIns="0" rIns="0" bIns="0" rtlCol="0" anchor="t"/>
          <a:lstStyle/>
          <a:p>
            <a:pPr indent="0" marL="0">
              <a:buNone/>
            </a:pPr>
            <a:r>
              <a:rPr lang="en-US" sz="1400" dirty="0">
                <a:solidFill>
                  <a:schemeClr val="tx2"/>
                </a:solidFill>
              </a:rPr>
              <a:t>ReLU hidden, sigmoid output</a:t>
            </a:r>
            <a:endParaRPr lang="en-US" sz="1400" dirty="0"/>
          </a:p>
        </p:txBody>
      </p:sp>
      <p:sp>
        <p:nvSpPr>
          <p:cNvPr id="8" name="Shape 4"/>
          <p:cNvSpPr/>
          <p:nvPr/>
        </p:nvSpPr>
        <p:spPr>
          <a:xfrm>
            <a:off x="5760720" y="2450592"/>
            <a:ext cx="2926080" cy="960120"/>
          </a:xfrm>
          <a:prstGeom prst="roundRect">
            <a:avLst>
              <a:gd name="adj" fmla="val 9524"/>
            </a:avLst>
          </a:prstGeom>
          <a:solidFill>
            <a:schemeClr val="bg2"/>
          </a:solidFill>
          <a:ln/>
        </p:spPr>
      </p:sp>
      <p:sp>
        <p:nvSpPr>
          <p:cNvPr id="9" name="Text 5"/>
          <p:cNvSpPr txBox="1"/>
          <p:nvPr/>
        </p:nvSpPr>
        <p:spPr>
          <a:xfrm>
            <a:off x="5897880" y="2523744"/>
            <a:ext cx="2651760" cy="480060"/>
          </a:xfrm>
          <a:prstGeom prst="rect">
            <a:avLst/>
          </a:prstGeom>
          <a:noFill/>
          <a:ln/>
        </p:spPr>
        <p:txBody>
          <a:bodyPr wrap="square" lIns="0" tIns="0" rIns="0" bIns="0" rtlCol="0" anchor="ctr"/>
          <a:lstStyle/>
          <a:p>
            <a:pPr indent="0" marL="0">
              <a:buNone/>
            </a:pPr>
            <a:r>
              <a:rPr lang="en-US" sz="3200" b="1" dirty="0">
                <a:solidFill>
                  <a:schemeClr val="accent1"/>
                </a:solidFill>
              </a:rPr>
              <a:t>353</a:t>
            </a:r>
            <a:endParaRPr lang="en-US" sz="3200" dirty="0"/>
          </a:p>
        </p:txBody>
      </p:sp>
      <p:sp>
        <p:nvSpPr>
          <p:cNvPr id="10" name="Text 6"/>
          <p:cNvSpPr txBox="1"/>
          <p:nvPr/>
        </p:nvSpPr>
        <p:spPr>
          <a:xfrm>
            <a:off x="5897880" y="3007462"/>
            <a:ext cx="2651760" cy="364846"/>
          </a:xfrm>
          <a:prstGeom prst="rect">
            <a:avLst/>
          </a:prstGeom>
          <a:noFill/>
          <a:ln/>
        </p:spPr>
        <p:txBody>
          <a:bodyPr wrap="square" lIns="0" tIns="0" rIns="0" bIns="0" rtlCol="0" anchor="t"/>
          <a:lstStyle/>
          <a:p>
            <a:pPr indent="0" marL="0">
              <a:buNone/>
            </a:pPr>
            <a:r>
              <a:rPr lang="en-US" sz="1400" dirty="0">
                <a:solidFill>
                  <a:schemeClr val="tx2"/>
                </a:solidFill>
              </a:rPr>
              <a:t>trainable parameters</a:t>
            </a:r>
            <a:endParaRPr lang="en-US" sz="1400" dirty="0"/>
          </a:p>
        </p:txBody>
      </p:sp>
      <p:sp>
        <p:nvSpPr>
          <p:cNvPr id="11" name="Shape 7"/>
          <p:cNvSpPr/>
          <p:nvPr/>
        </p:nvSpPr>
        <p:spPr>
          <a:xfrm>
            <a:off x="5760720" y="3575304"/>
            <a:ext cx="2926080" cy="960120"/>
          </a:xfrm>
          <a:prstGeom prst="roundRect">
            <a:avLst>
              <a:gd name="adj" fmla="val 9524"/>
            </a:avLst>
          </a:prstGeom>
          <a:solidFill>
            <a:schemeClr val="bg2"/>
          </a:solidFill>
          <a:ln/>
        </p:spPr>
      </p:sp>
      <p:sp>
        <p:nvSpPr>
          <p:cNvPr id="12" name="Text 8"/>
          <p:cNvSpPr txBox="1"/>
          <p:nvPr/>
        </p:nvSpPr>
        <p:spPr>
          <a:xfrm>
            <a:off x="5897880" y="3648456"/>
            <a:ext cx="2651760" cy="480060"/>
          </a:xfrm>
          <a:prstGeom prst="rect">
            <a:avLst/>
          </a:prstGeom>
          <a:noFill/>
          <a:ln/>
        </p:spPr>
        <p:txBody>
          <a:bodyPr wrap="square" lIns="0" tIns="0" rIns="0" bIns="0" rtlCol="0" anchor="ctr"/>
          <a:lstStyle/>
          <a:p>
            <a:pPr indent="0" marL="0">
              <a:buNone/>
            </a:pPr>
            <a:r>
              <a:rPr lang="en-US" sz="2600" b="1" dirty="0">
                <a:solidFill>
                  <a:schemeClr val="accent2"/>
                </a:solidFill>
              </a:rPr>
              <a:t>Adam · BCE · 32</a:t>
            </a:r>
            <a:endParaRPr lang="en-US" sz="2600" dirty="0"/>
          </a:p>
        </p:txBody>
      </p:sp>
      <p:sp>
        <p:nvSpPr>
          <p:cNvPr id="13" name="Text 9"/>
          <p:cNvSpPr txBox="1"/>
          <p:nvPr/>
        </p:nvSpPr>
        <p:spPr>
          <a:xfrm>
            <a:off x="5897880" y="4132174"/>
            <a:ext cx="2651760" cy="364846"/>
          </a:xfrm>
          <a:prstGeom prst="rect">
            <a:avLst/>
          </a:prstGeom>
          <a:noFill/>
          <a:ln/>
        </p:spPr>
        <p:txBody>
          <a:bodyPr wrap="square" lIns="0" tIns="0" rIns="0" bIns="0" rtlCol="0" anchor="t"/>
          <a:lstStyle/>
          <a:p>
            <a:pPr indent="0" marL="0">
              <a:buNone/>
            </a:pPr>
            <a:r>
              <a:rPr lang="en-US" sz="1400" dirty="0">
                <a:solidFill>
                  <a:schemeClr val="tx2"/>
                </a:solidFill>
              </a:rPr>
              <a:t>optimiser · loss · batch size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Training process</a:t>
            </a:r>
            <a:endParaRPr lang="en-US" sz="3400" dirty="0"/>
          </a:p>
        </p:txBody>
      </p:sp>
      <p:pic>
        <p:nvPicPr>
          <p:cNvPr id="4" name="Image 0" descr="Training and validation accuracy and loss over 50 epochs">    </p:cNvPr>
          <p:cNvPicPr>
            <a:picLocks noChangeAspect="1"/>
          </p:cNvPicPr>
          <p:nvPr/>
        </p:nvPicPr>
        <p:blipFill>
          <a:blip r:embed="rId1"/>
          <a:stretch>
            <a:fillRect/>
          </a:stretch>
        </p:blipFill>
        <p:spPr>
          <a:xfrm>
            <a:off x="457200" y="1234440"/>
            <a:ext cx="8229600" cy="2880360"/>
          </a:xfrm>
          <a:prstGeom prst="rect">
            <a:avLst/>
          </a:prstGeom>
        </p:spPr>
      </p:pic>
      <p:sp>
        <p:nvSpPr>
          <p:cNvPr id="5" name="Text 1"/>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400" b="1" dirty="0">
                <a:solidFill>
                  <a:schemeClr val="accent1"/>
                </a:solidFill>
              </a:rPr>
              <a:t>Loss 0.55 → 0.43</a:t>
            </a:r>
            <a:pPr indent="0" marL="0">
              <a:buNone/>
            </a:pPr>
            <a:r>
              <a:rPr lang="en-US" sz="1400" dirty="0">
                <a:solidFill>
                  <a:schemeClr val="tx1"/>
                </a:solidFill>
              </a:rPr>
              <a:t>  ·  training and validation lines stay together: no overfitting</a:t>
            </a:r>
            <a:endParaRPr lang="en-US" sz="1400" dirty="0"/>
          </a:p>
        </p:txBody>
      </p:sp>
      <p:sp>
        <p:nvSpPr>
          <p:cNvPr id="6" name="Text 2"/>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400" dirty="0">
                <a:solidFill>
                  <a:schemeClr val="tx1"/>
                </a:solidFill>
              </a:rPr>
              <a:t>Final results: </a:t>
            </a:r>
            <a:pPr indent="0" marL="0">
              <a:buNone/>
            </a:pPr>
            <a:r>
              <a:rPr lang="en-US" sz="1400" b="1" dirty="0">
                <a:solidFill>
                  <a:schemeClr val="accent2"/>
                </a:solidFill>
              </a:rPr>
              <a:t>training 79.7%  ·  validation 79.2%  ·  test 78.2% accuracy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Model evaluation</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200400"/>
                <a:gridCol w="914400"/>
                <a:gridCol w="1005840"/>
                <a:gridCol w="914400"/>
                <a:gridCol w="914400"/>
                <a:gridCol w="1280160"/>
              </a:tblGrid>
              <a:tr h="457200">
                <a:tc>
                  <a:txBody>
                    <a:bodyPr/>
                    <a:lstStyle/>
                    <a:p>
                      <a:pPr algn="l" indent="0" marL="0">
                        <a:buNone/>
                      </a:pPr>
                      <a:r>
                        <a:rPr lang="en-US" sz="1400" b="1" dirty="0">
                          <a:solidFill>
                            <a:srgbClr val="FFFFFF"/>
                          </a:solidFill>
                        </a:rPr>
                        <a:t>Model</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rPr>
                        <a:t>Accuracy</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rPr>
                        <a:t>Precision</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rPr>
                        <a:t>Recall</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rPr>
                        <a:t>F1</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400" b="1" dirty="0">
                          <a:solidFill>
                            <a:srgbClr val="FFFFFF"/>
                          </a:solidFill>
                        </a:rPr>
                        <a:t>AUC</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r>
              <a:tr h="457200">
                <a:tc>
                  <a:txBody>
                    <a:bodyPr/>
                    <a:lstStyle/>
                    <a:p>
                      <a:pPr algn="l" indent="0" marL="0">
                        <a:buNone/>
                      </a:pPr>
                      <a:r>
                        <a:rPr lang="en-US" sz="1400" dirty="0">
                          <a:solidFill>
                            <a:srgbClr val="1B2A41"/>
                          </a:solidFill>
                        </a:rPr>
                        <a:t>Neural network, threshold 0.50</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78.2%</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60.7%</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50.8%</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55.3%</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80.5%</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1B2A41"/>
                          </a:solidFill>
                        </a:rPr>
                        <a:t>Neural network, tuned threshold 0.39</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DE3DA"/>
                    </a:solidFill>
                  </a:tcPr>
                </a:tc>
                <a:tc>
                  <a:txBody>
                    <a:bodyPr/>
                    <a:lstStyle/>
                    <a:p>
                      <a:pPr algn="ctr" indent="0" marL="0">
                        <a:buNone/>
                      </a:pPr>
                      <a:r>
                        <a:rPr lang="en-US" sz="1400" b="1" dirty="0">
                          <a:solidFill>
                            <a:srgbClr val="1B2A41"/>
                          </a:solidFill>
                        </a:rPr>
                        <a:t>76.7%</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DE3DA"/>
                    </a:solidFill>
                  </a:tcPr>
                </a:tc>
                <a:tc>
                  <a:txBody>
                    <a:bodyPr/>
                    <a:lstStyle/>
                    <a:p>
                      <a:pPr algn="ctr" indent="0" marL="0">
                        <a:buNone/>
                      </a:pPr>
                      <a:r>
                        <a:rPr lang="en-US" sz="1400" b="1" dirty="0">
                          <a:solidFill>
                            <a:srgbClr val="1B2A41"/>
                          </a:solidFill>
                        </a:rPr>
                        <a:t>55.2%</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DE3DA"/>
                    </a:solidFill>
                  </a:tcPr>
                </a:tc>
                <a:tc>
                  <a:txBody>
                    <a:bodyPr/>
                    <a:lstStyle/>
                    <a:p>
                      <a:pPr algn="ctr" indent="0" marL="0">
                        <a:buNone/>
                      </a:pPr>
                      <a:r>
                        <a:rPr lang="en-US" sz="1400" b="1" dirty="0">
                          <a:solidFill>
                            <a:srgbClr val="1B2A41"/>
                          </a:solidFill>
                        </a:rPr>
                        <a:t>63.9%</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DE3DA"/>
                    </a:solidFill>
                  </a:tcPr>
                </a:tc>
                <a:tc>
                  <a:txBody>
                    <a:bodyPr/>
                    <a:lstStyle/>
                    <a:p>
                      <a:pPr algn="ctr" indent="0" marL="0">
                        <a:buNone/>
                      </a:pPr>
                      <a:r>
                        <a:rPr lang="en-US" sz="1400" b="1" dirty="0">
                          <a:solidFill>
                            <a:srgbClr val="1B2A41"/>
                          </a:solidFill>
                        </a:rPr>
                        <a:t>59.2%</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DE3DA"/>
                    </a:solidFill>
                  </a:tcPr>
                </a:tc>
                <a:tc>
                  <a:txBody>
                    <a:bodyPr/>
                    <a:lstStyle/>
                    <a:p>
                      <a:pPr algn="ctr" indent="0" marL="0">
                        <a:buNone/>
                      </a:pPr>
                      <a:r>
                        <a:rPr lang="en-US" sz="1400" b="1" dirty="0">
                          <a:solidFill>
                            <a:srgbClr val="1B2A41"/>
                          </a:solidFill>
                        </a:rPr>
                        <a:t>80.5%</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DE3DA"/>
                    </a:solidFill>
                  </a:tcPr>
                </a:tc>
              </a:tr>
              <a:tr h="457200">
                <a:tc>
                  <a:txBody>
                    <a:bodyPr/>
                    <a:lstStyle/>
                    <a:p>
                      <a:pPr algn="l" indent="0" marL="0">
                        <a:buNone/>
                      </a:pPr>
                      <a:r>
                        <a:rPr lang="en-US" sz="1400" dirty="0">
                          <a:solidFill>
                            <a:srgbClr val="1B2A41"/>
                          </a:solidFill>
                        </a:rPr>
                        <a:t>Logistic regression (baseline)</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79.4%</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65.4%</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47.6%</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55.1%</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B2A41"/>
                          </a:solidFill>
                        </a:rPr>
                        <a:t>80.7%</a:t>
                      </a:r>
                      <a:endParaRPr lang="en-US" sz="14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r>
            </a:tbl>
          </a:graphicData>
        </a:graphic>
      </p:graphicFrame>
      <p:sp>
        <p:nvSpPr>
          <p:cNvPr id="5" name="Shape 1"/>
          <p:cNvSpPr/>
          <p:nvPr/>
        </p:nvSpPr>
        <p:spPr>
          <a:xfrm>
            <a:off x="457200" y="3429000"/>
            <a:ext cx="3977640" cy="1097280"/>
          </a:xfrm>
          <a:prstGeom prst="roundRect">
            <a:avLst>
              <a:gd name="adj" fmla="val 8333"/>
            </a:avLst>
          </a:prstGeom>
          <a:solidFill>
            <a:schemeClr val="bg2"/>
          </a:solidFill>
          <a:ln/>
        </p:spPr>
      </p:sp>
      <p:sp>
        <p:nvSpPr>
          <p:cNvPr id="6" name="Text 2"/>
          <p:cNvSpPr txBox="1"/>
          <p:nvPr/>
        </p:nvSpPr>
        <p:spPr>
          <a:xfrm>
            <a:off x="594360" y="3502152"/>
            <a:ext cx="3703320" cy="548640"/>
          </a:xfrm>
          <a:prstGeom prst="rect">
            <a:avLst/>
          </a:prstGeom>
          <a:noFill/>
          <a:ln/>
        </p:spPr>
        <p:txBody>
          <a:bodyPr wrap="square" lIns="0" tIns="0" rIns="0" bIns="0" rtlCol="0" anchor="ctr"/>
          <a:lstStyle/>
          <a:p>
            <a:pPr indent="0" marL="0">
              <a:buNone/>
            </a:pPr>
            <a:r>
              <a:rPr lang="en-US" sz="3200" b="1" dirty="0">
                <a:solidFill>
                  <a:schemeClr val="accent2"/>
                </a:solidFill>
              </a:rPr>
              <a:t>50.8% → 63.9%</a:t>
            </a:r>
            <a:endParaRPr lang="en-US" sz="3200" dirty="0"/>
          </a:p>
        </p:txBody>
      </p:sp>
      <p:sp>
        <p:nvSpPr>
          <p:cNvPr id="7" name="Text 3"/>
          <p:cNvSpPr txBox="1"/>
          <p:nvPr/>
        </p:nvSpPr>
        <p:spPr>
          <a:xfrm>
            <a:off x="594360" y="4065422"/>
            <a:ext cx="3703320" cy="416966"/>
          </a:xfrm>
          <a:prstGeom prst="rect">
            <a:avLst/>
          </a:prstGeom>
          <a:noFill/>
          <a:ln/>
        </p:spPr>
        <p:txBody>
          <a:bodyPr wrap="square" lIns="0" tIns="0" rIns="0" bIns="0" rtlCol="0" anchor="t"/>
          <a:lstStyle/>
          <a:p>
            <a:pPr indent="0" marL="0">
              <a:buNone/>
            </a:pPr>
            <a:r>
              <a:rPr lang="en-US" sz="1400" dirty="0">
                <a:solidFill>
                  <a:schemeClr val="tx2"/>
                </a:solidFill>
              </a:rPr>
              <a:t>recall (leavers caught) after tuning the threshold on validation data</a:t>
            </a:r>
            <a:endParaRPr lang="en-US" sz="1400" dirty="0"/>
          </a:p>
        </p:txBody>
      </p:sp>
      <p:sp>
        <p:nvSpPr>
          <p:cNvPr id="8" name="Shape 4"/>
          <p:cNvSpPr/>
          <p:nvPr/>
        </p:nvSpPr>
        <p:spPr>
          <a:xfrm>
            <a:off x="4709160" y="3429000"/>
            <a:ext cx="3977640" cy="1097280"/>
          </a:xfrm>
          <a:prstGeom prst="roundRect">
            <a:avLst>
              <a:gd name="adj" fmla="val 8333"/>
            </a:avLst>
          </a:prstGeom>
          <a:solidFill>
            <a:schemeClr val="bg2"/>
          </a:solidFill>
          <a:ln/>
        </p:spPr>
      </p:sp>
      <p:sp>
        <p:nvSpPr>
          <p:cNvPr id="9" name="Text 5"/>
          <p:cNvSpPr txBox="1"/>
          <p:nvPr/>
        </p:nvSpPr>
        <p:spPr>
          <a:xfrm>
            <a:off x="4846320" y="3502152"/>
            <a:ext cx="3703320" cy="548640"/>
          </a:xfrm>
          <a:prstGeom prst="rect">
            <a:avLst/>
          </a:prstGeom>
          <a:noFill/>
          <a:ln/>
        </p:spPr>
        <p:txBody>
          <a:bodyPr wrap="square" lIns="0" tIns="0" rIns="0" bIns="0" rtlCol="0" anchor="ctr"/>
          <a:lstStyle/>
          <a:p>
            <a:pPr indent="0" marL="0">
              <a:buNone/>
            </a:pPr>
            <a:r>
              <a:rPr lang="en-US" sz="3200" b="1" dirty="0">
                <a:solidFill>
                  <a:schemeClr val="accent1"/>
                </a:solidFill>
              </a:rPr>
              <a:t>Same AUC</a:t>
            </a:r>
            <a:endParaRPr lang="en-US" sz="3200" dirty="0"/>
          </a:p>
        </p:txBody>
      </p:sp>
      <p:sp>
        <p:nvSpPr>
          <p:cNvPr id="10" name="Text 6"/>
          <p:cNvSpPr txBox="1"/>
          <p:nvPr/>
        </p:nvSpPr>
        <p:spPr>
          <a:xfrm>
            <a:off x="4846320" y="4065422"/>
            <a:ext cx="3703320" cy="416966"/>
          </a:xfrm>
          <a:prstGeom prst="rect">
            <a:avLst/>
          </a:prstGeom>
          <a:noFill/>
          <a:ln/>
        </p:spPr>
        <p:txBody>
          <a:bodyPr wrap="square" lIns="0" tIns="0" rIns="0" bIns="0" rtlCol="0" anchor="t"/>
          <a:lstStyle/>
          <a:p>
            <a:pPr indent="0" marL="0">
              <a:buNone/>
            </a:pPr>
            <a:r>
              <a:rPr lang="en-US" sz="1400" dirty="0">
                <a:solidFill>
                  <a:schemeClr val="tx2"/>
                </a:solidFill>
              </a:rPr>
              <a:t>as a simple logistic regression: the limit is the data, not the network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Accuracy and confusion matrix</a:t>
            </a:r>
            <a:endParaRPr lang="en-US" sz="3400" dirty="0"/>
          </a:p>
        </p:txBody>
      </p:sp>
      <p:pic>
        <p:nvPicPr>
          <p:cNvPr id="4" name="Image 0" descr="Confusion matrix at threshold 0.50">    </p:cNvPr>
          <p:cNvPicPr>
            <a:picLocks noChangeAspect="1"/>
          </p:cNvPicPr>
          <p:nvPr/>
        </p:nvPicPr>
        <p:blipFill>
          <a:blip r:embed="rId1"/>
          <a:stretch>
            <a:fillRect/>
          </a:stretch>
        </p:blipFill>
        <p:spPr>
          <a:xfrm>
            <a:off x="457200" y="1325880"/>
            <a:ext cx="2642616" cy="2377440"/>
          </a:xfrm>
          <a:prstGeom prst="rect">
            <a:avLst/>
          </a:prstGeom>
        </p:spPr>
      </p:pic>
      <p:pic>
        <p:nvPicPr>
          <p:cNvPr id="5" name="Image 1" descr="ROC curve with AUC 0.805">    </p:cNvPr>
          <p:cNvPicPr>
            <a:picLocks noChangeAspect="1"/>
          </p:cNvPicPr>
          <p:nvPr/>
        </p:nvPicPr>
        <p:blipFill>
          <a:blip r:embed="rId2"/>
          <a:stretch>
            <a:fillRect/>
          </a:stretch>
        </p:blipFill>
        <p:spPr>
          <a:xfrm>
            <a:off x="3291840" y="1325880"/>
            <a:ext cx="2907792" cy="2377440"/>
          </a:xfrm>
          <a:prstGeom prst="rect">
            <a:avLst/>
          </a:prstGeom>
        </p:spPr>
      </p:pic>
      <p:sp>
        <p:nvSpPr>
          <p:cNvPr id="6" name="Shape 1"/>
          <p:cNvSpPr/>
          <p:nvPr/>
        </p:nvSpPr>
        <p:spPr>
          <a:xfrm>
            <a:off x="6400800" y="1325880"/>
            <a:ext cx="2286000" cy="777240"/>
          </a:xfrm>
          <a:prstGeom prst="roundRect">
            <a:avLst>
              <a:gd name="adj" fmla="val 11765"/>
            </a:avLst>
          </a:prstGeom>
          <a:solidFill>
            <a:schemeClr val="bg2"/>
          </a:solidFill>
          <a:ln/>
        </p:spPr>
      </p:sp>
      <p:sp>
        <p:nvSpPr>
          <p:cNvPr id="7" name="Text 2"/>
          <p:cNvSpPr txBox="1"/>
          <p:nvPr/>
        </p:nvSpPr>
        <p:spPr>
          <a:xfrm>
            <a:off x="6537960" y="1399032"/>
            <a:ext cx="2011680" cy="388620"/>
          </a:xfrm>
          <a:prstGeom prst="rect">
            <a:avLst/>
          </a:prstGeom>
          <a:noFill/>
          <a:ln/>
        </p:spPr>
        <p:txBody>
          <a:bodyPr wrap="square" lIns="0" tIns="0" rIns="0" bIns="0" rtlCol="0" anchor="ctr"/>
          <a:lstStyle/>
          <a:p>
            <a:pPr indent="0" marL="0">
              <a:buNone/>
            </a:pPr>
            <a:r>
              <a:rPr lang="en-US" sz="2400" b="1" dirty="0">
                <a:solidFill>
                  <a:schemeClr val="accent1"/>
                </a:solidFill>
              </a:rPr>
              <a:t>78.2%</a:t>
            </a:r>
            <a:endParaRPr lang="en-US" sz="2400" dirty="0"/>
          </a:p>
        </p:txBody>
      </p:sp>
      <p:sp>
        <p:nvSpPr>
          <p:cNvPr id="8" name="Text 3"/>
          <p:cNvSpPr txBox="1"/>
          <p:nvPr/>
        </p:nvSpPr>
        <p:spPr>
          <a:xfrm>
            <a:off x="6537960" y="1776679"/>
            <a:ext cx="2011680" cy="295351"/>
          </a:xfrm>
          <a:prstGeom prst="rect">
            <a:avLst/>
          </a:prstGeom>
          <a:noFill/>
          <a:ln/>
        </p:spPr>
        <p:txBody>
          <a:bodyPr wrap="square" lIns="0" tIns="0" rIns="0" bIns="0" rtlCol="0" anchor="t"/>
          <a:lstStyle/>
          <a:p>
            <a:pPr indent="0" marL="0">
              <a:buNone/>
            </a:pPr>
            <a:r>
              <a:rPr lang="en-US" sz="1200" dirty="0">
                <a:solidFill>
                  <a:schemeClr val="tx2"/>
                </a:solidFill>
              </a:rPr>
              <a:t>test accuracy</a:t>
            </a:r>
            <a:endParaRPr lang="en-US" sz="1200" dirty="0"/>
          </a:p>
        </p:txBody>
      </p:sp>
      <p:sp>
        <p:nvSpPr>
          <p:cNvPr id="9" name="Shape 4"/>
          <p:cNvSpPr/>
          <p:nvPr/>
        </p:nvSpPr>
        <p:spPr>
          <a:xfrm>
            <a:off x="6400800" y="2212848"/>
            <a:ext cx="2286000" cy="777240"/>
          </a:xfrm>
          <a:prstGeom prst="roundRect">
            <a:avLst>
              <a:gd name="adj" fmla="val 11765"/>
            </a:avLst>
          </a:prstGeom>
          <a:solidFill>
            <a:schemeClr val="bg2"/>
          </a:solidFill>
          <a:ln/>
        </p:spPr>
      </p:sp>
      <p:sp>
        <p:nvSpPr>
          <p:cNvPr id="10" name="Text 5"/>
          <p:cNvSpPr txBox="1"/>
          <p:nvPr/>
        </p:nvSpPr>
        <p:spPr>
          <a:xfrm>
            <a:off x="6537960" y="2286000"/>
            <a:ext cx="2011680" cy="388620"/>
          </a:xfrm>
          <a:prstGeom prst="rect">
            <a:avLst/>
          </a:prstGeom>
          <a:noFill/>
          <a:ln/>
        </p:spPr>
        <p:txBody>
          <a:bodyPr wrap="square" lIns="0" tIns="0" rIns="0" bIns="0" rtlCol="0" anchor="ctr"/>
          <a:lstStyle/>
          <a:p>
            <a:pPr indent="0" marL="0">
              <a:buNone/>
            </a:pPr>
            <a:r>
              <a:rPr lang="en-US" sz="2400" b="1" dirty="0">
                <a:solidFill>
                  <a:schemeClr val="accent2"/>
                </a:solidFill>
              </a:rPr>
              <a:t>190 / 374</a:t>
            </a:r>
            <a:endParaRPr lang="en-US" sz="2400" dirty="0"/>
          </a:p>
        </p:txBody>
      </p:sp>
      <p:sp>
        <p:nvSpPr>
          <p:cNvPr id="11" name="Text 6"/>
          <p:cNvSpPr txBox="1"/>
          <p:nvPr/>
        </p:nvSpPr>
        <p:spPr>
          <a:xfrm>
            <a:off x="6537960" y="2663647"/>
            <a:ext cx="2011680" cy="295351"/>
          </a:xfrm>
          <a:prstGeom prst="rect">
            <a:avLst/>
          </a:prstGeom>
          <a:noFill/>
          <a:ln/>
        </p:spPr>
        <p:txBody>
          <a:bodyPr wrap="square" lIns="0" tIns="0" rIns="0" bIns="0" rtlCol="0" anchor="t"/>
          <a:lstStyle/>
          <a:p>
            <a:pPr indent="0" marL="0">
              <a:buNone/>
            </a:pPr>
            <a:r>
              <a:rPr lang="en-US" sz="1200" dirty="0">
                <a:solidFill>
                  <a:schemeClr val="tx2"/>
                </a:solidFill>
              </a:rPr>
              <a:t>leavers caught</a:t>
            </a:r>
            <a:endParaRPr lang="en-US" sz="1200" dirty="0"/>
          </a:p>
        </p:txBody>
      </p:sp>
      <p:sp>
        <p:nvSpPr>
          <p:cNvPr id="12" name="Shape 7"/>
          <p:cNvSpPr/>
          <p:nvPr/>
        </p:nvSpPr>
        <p:spPr>
          <a:xfrm>
            <a:off x="6400800" y="3099816"/>
            <a:ext cx="2286000" cy="777240"/>
          </a:xfrm>
          <a:prstGeom prst="roundRect">
            <a:avLst>
              <a:gd name="adj" fmla="val 11765"/>
            </a:avLst>
          </a:prstGeom>
          <a:solidFill>
            <a:schemeClr val="bg2"/>
          </a:solidFill>
          <a:ln/>
        </p:spPr>
      </p:sp>
      <p:sp>
        <p:nvSpPr>
          <p:cNvPr id="13" name="Text 8"/>
          <p:cNvSpPr txBox="1"/>
          <p:nvPr/>
        </p:nvSpPr>
        <p:spPr>
          <a:xfrm>
            <a:off x="6537960" y="3172968"/>
            <a:ext cx="2011680" cy="388620"/>
          </a:xfrm>
          <a:prstGeom prst="rect">
            <a:avLst/>
          </a:prstGeom>
          <a:noFill/>
          <a:ln/>
        </p:spPr>
        <p:txBody>
          <a:bodyPr wrap="square" lIns="0" tIns="0" rIns="0" bIns="0" rtlCol="0" anchor="ctr"/>
          <a:lstStyle/>
          <a:p>
            <a:pPr indent="0" marL="0">
              <a:buNone/>
            </a:pPr>
            <a:r>
              <a:rPr lang="en-US" sz="2400" b="1" dirty="0">
                <a:solidFill>
                  <a:schemeClr val="accent1"/>
                </a:solidFill>
              </a:rPr>
              <a:t>AUC 0.805</a:t>
            </a:r>
            <a:endParaRPr lang="en-US" sz="2400" dirty="0"/>
          </a:p>
        </p:txBody>
      </p:sp>
      <p:sp>
        <p:nvSpPr>
          <p:cNvPr id="14" name="Text 9"/>
          <p:cNvSpPr txBox="1"/>
          <p:nvPr/>
        </p:nvSpPr>
        <p:spPr>
          <a:xfrm>
            <a:off x="6537960" y="3550615"/>
            <a:ext cx="2011680" cy="295351"/>
          </a:xfrm>
          <a:prstGeom prst="rect">
            <a:avLst/>
          </a:prstGeom>
          <a:noFill/>
          <a:ln/>
        </p:spPr>
        <p:txBody>
          <a:bodyPr wrap="square" lIns="0" tIns="0" rIns="0" bIns="0" rtlCol="0" anchor="t"/>
          <a:lstStyle/>
          <a:p>
            <a:pPr indent="0" marL="0">
              <a:buNone/>
            </a:pPr>
            <a:r>
              <a:rPr lang="en-US" sz="1200" dirty="0">
                <a:solidFill>
                  <a:schemeClr val="tx2"/>
                </a:solidFill>
              </a:rPr>
              <a:t>ranking quality</a:t>
            </a:r>
            <a:endParaRPr lang="en-US" sz="1200" dirty="0"/>
          </a:p>
        </p:txBody>
      </p:sp>
      <p:sp>
        <p:nvSpPr>
          <p:cNvPr id="15" name="Text 10"/>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400" dirty="0">
                <a:solidFill>
                  <a:schemeClr val="tx2"/>
                </a:solidFill>
              </a:rPr>
              <a:t>At threshold 0.50: 912 stayers correct, 123 false alarms, 184 leavers missed, 190 leavers caught.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Churn prediction results</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023360" cy="914400"/>
        </p:xfrm>
        <a:graphic>
          <a:graphicData uri="http://schemas.openxmlformats.org/drawingml/2006/table">
            <a:tbl>
              <a:tblPr/>
              <a:tblGrid>
                <a:gridCol w="1188720"/>
                <a:gridCol w="640080"/>
                <a:gridCol w="731520"/>
                <a:gridCol w="640080"/>
                <a:gridCol w="822960"/>
              </a:tblGrid>
              <a:tr h="411480">
                <a:tc>
                  <a:txBody>
                    <a:bodyPr/>
                    <a:lstStyle/>
                    <a:p>
                      <a:pPr algn="l" indent="0" marL="0">
                        <a:buNone/>
                      </a:pPr>
                      <a:r>
                        <a:rPr lang="en-US" sz="1200" b="1" dirty="0">
                          <a:solidFill>
                            <a:srgbClr val="FFFFFF"/>
                          </a:solidFill>
                        </a:rPr>
                        <a:t>Customer</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Tenure</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Charges</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Risk</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Outcome</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1B2A41"/>
                    </a:solidFill>
                  </a:tcPr>
                </a:tc>
              </a:tr>
              <a:tr h="411480">
                <a:tc>
                  <a:txBody>
                    <a:bodyPr/>
                    <a:lstStyle/>
                    <a:p>
                      <a:pPr algn="l" indent="0" marL="0">
                        <a:buNone/>
                      </a:pPr>
                      <a:r>
                        <a:rPr lang="en-US" sz="1200" dirty="0">
                          <a:solidFill>
                            <a:srgbClr val="1B2A41"/>
                          </a:solidFill>
                        </a:rPr>
                        <a:t>Highest risk</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1 mo</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$79</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86.1%</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Left</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2A41"/>
                          </a:solidFill>
                        </a:rPr>
                        <a:t>Near threshold</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35 mo</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$101</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39.1%</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Left</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2A41"/>
                          </a:solidFill>
                        </a:rPr>
                        <a:t>Lowest risk</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72 mo</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$20</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0.4%</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2A41"/>
                          </a:solidFill>
                        </a:rPr>
                        <a:t>Stayed</a:t>
                      </a:r>
                      <a:endParaRPr lang="en-US" sz="1200" dirty="0"/>
                    </a:p>
                  </a:txBody>
                  <a:tcPr marL="91440" marR="91440" marT="45720" marB="45720" anchor="ctr">
                    <a:lnL w="12700" cap="flat" cmpd="sng" algn="ctr">
                      <a:solidFill>
                        <a:srgbClr val="CBD5DF"/>
                      </a:solidFill>
                      <a:prstDash val="solid"/>
                      <a:round/>
                      <a:headEnd type="none" w="med" len="med"/>
                      <a:tailEnd type="none" w="med" len="med"/>
                    </a:lnL>
                    <a:lnR w="12700" cap="flat" cmpd="sng" algn="ctr">
                      <a:solidFill>
                        <a:srgbClr val="CBD5DF"/>
                      </a:solidFill>
                      <a:prstDash val="solid"/>
                      <a:round/>
                      <a:headEnd type="none" w="med" len="med"/>
                      <a:tailEnd type="none" w="med" len="med"/>
                    </a:lnR>
                    <a:lnT w="12700" cap="flat" cmpd="sng" algn="ctr">
                      <a:solidFill>
                        <a:srgbClr val="CBD5DF"/>
                      </a:solidFill>
                      <a:prstDash val="solid"/>
                      <a:round/>
                      <a:headEnd type="none" w="med" len="med"/>
                      <a:tailEnd type="none" w="med" len="med"/>
                    </a:lnT>
                    <a:lnB w="12700" cap="flat" cmpd="sng" algn="ctr">
                      <a:solidFill>
                        <a:srgbClr val="CBD5DF"/>
                      </a:solidFill>
                      <a:prstDash val="solid"/>
                      <a:round/>
                      <a:headEnd type="none" w="med" len="med"/>
                      <a:tailEnd type="none" w="med" len="med"/>
                    </a:lnB>
                    <a:solidFill>
                      <a:srgbClr val="FFFFFF"/>
                    </a:solidFill>
                  </a:tcPr>
                </a:tc>
              </a:tr>
            </a:tbl>
          </a:graphicData>
        </a:graphic>
      </p:graphicFrame>
      <p:sp>
        <p:nvSpPr>
          <p:cNvPr id="5" name="Shape 1"/>
          <p:cNvSpPr/>
          <p:nvPr/>
        </p:nvSpPr>
        <p:spPr>
          <a:xfrm>
            <a:off x="457200" y="3291840"/>
            <a:ext cx="4023360" cy="1188720"/>
          </a:xfrm>
          <a:prstGeom prst="roundRect">
            <a:avLst>
              <a:gd name="adj" fmla="val 7692"/>
            </a:avLst>
          </a:prstGeom>
          <a:solidFill>
            <a:schemeClr val="bg2"/>
          </a:solidFill>
          <a:ln/>
        </p:spPr>
      </p:sp>
      <p:sp>
        <p:nvSpPr>
          <p:cNvPr id="6" name="Text 2"/>
          <p:cNvSpPr txBox="1"/>
          <p:nvPr/>
        </p:nvSpPr>
        <p:spPr>
          <a:xfrm>
            <a:off x="594360" y="3364992"/>
            <a:ext cx="3749040" cy="594360"/>
          </a:xfrm>
          <a:prstGeom prst="rect">
            <a:avLst/>
          </a:prstGeom>
          <a:noFill/>
          <a:ln/>
        </p:spPr>
        <p:txBody>
          <a:bodyPr wrap="square" lIns="0" tIns="0" rIns="0" bIns="0" rtlCol="0" anchor="ctr"/>
          <a:lstStyle/>
          <a:p>
            <a:pPr indent="0" marL="0">
              <a:buNone/>
            </a:pPr>
            <a:r>
              <a:rPr lang="en-US" sz="3200" b="1" dirty="0">
                <a:solidFill>
                  <a:schemeClr val="accent2"/>
                </a:solidFill>
              </a:rPr>
              <a:t>315</a:t>
            </a:r>
            <a:endParaRPr lang="en-US" sz="3200" dirty="0"/>
          </a:p>
        </p:txBody>
      </p:sp>
      <p:sp>
        <p:nvSpPr>
          <p:cNvPr id="7" name="Text 3"/>
          <p:cNvSpPr txBox="1"/>
          <p:nvPr/>
        </p:nvSpPr>
        <p:spPr>
          <a:xfrm>
            <a:off x="594360" y="3981298"/>
            <a:ext cx="3749040" cy="451714"/>
          </a:xfrm>
          <a:prstGeom prst="rect">
            <a:avLst/>
          </a:prstGeom>
          <a:noFill/>
          <a:ln/>
        </p:spPr>
        <p:txBody>
          <a:bodyPr wrap="square" lIns="0" tIns="0" rIns="0" bIns="0" rtlCol="0" anchor="t"/>
          <a:lstStyle/>
          <a:p>
            <a:pPr indent="0" marL="0">
              <a:buNone/>
            </a:pPr>
            <a:r>
              <a:rPr lang="en-US" sz="1400" dirty="0">
                <a:solidFill>
                  <a:schemeClr val="tx2"/>
                </a:solidFill>
              </a:rPr>
              <a:t>first-year customers flagged in the test set: a list to refresh every month</a:t>
            </a:r>
            <a:endParaRPr lang="en-US" sz="1400" dirty="0"/>
          </a:p>
        </p:txBody>
      </p:sp>
      <p:pic>
        <p:nvPicPr>
          <p:cNvPr id="8" name="Image 0" descr="Heatmap of churn rate by tenure and monthly charges">    </p:cNvPr>
          <p:cNvPicPr>
            <a:picLocks noChangeAspect="1"/>
          </p:cNvPicPr>
          <p:nvPr/>
        </p:nvPicPr>
        <p:blipFill>
          <a:blip r:embed="rId1"/>
          <a:stretch>
            <a:fillRect/>
          </a:stretch>
        </p:blipFill>
        <p:spPr>
          <a:xfrm>
            <a:off x="4663440" y="1371600"/>
            <a:ext cx="4023360" cy="2505456"/>
          </a:xfrm>
          <a:prstGeom prst="rect">
            <a:avLst/>
          </a:prstGeom>
        </p:spPr>
      </p:pic>
      <p:sp>
        <p:nvSpPr>
          <p:cNvPr id="9" name="Text 4"/>
          <p:cNvSpPr txBox="1"/>
          <p:nvPr/>
        </p:nvSpPr>
        <p:spPr>
          <a:xfrm>
            <a:off x="4663440" y="3977640"/>
            <a:ext cx="4023360" cy="548640"/>
          </a:xfrm>
          <a:prstGeom prst="rect">
            <a:avLst/>
          </a:prstGeom>
          <a:noFill/>
          <a:ln/>
        </p:spPr>
        <p:txBody>
          <a:bodyPr wrap="square" lIns="0" tIns="0" rIns="0" bIns="0" rtlCol="0" anchor="t"/>
          <a:lstStyle/>
          <a:p>
            <a:pPr indent="0" marL="0">
              <a:buNone/>
            </a:pPr>
            <a:r>
              <a:rPr lang="en-US" sz="1200" dirty="0">
                <a:solidFill>
                  <a:schemeClr val="tx2"/>
                </a:solidFill>
              </a:rPr>
              <a:t>New and paying over $95: 80.6% churn. Over 4 years and under $40: 1.5%.</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3400" b="1" dirty="0">
                <a:solidFill>
                  <a:schemeClr val="tx1"/>
                </a:solidFill>
              </a:rPr>
              <a:t>Limitations and next steps</a:t>
            </a:r>
            <a:endParaRPr lang="en-US" sz="3400" dirty="0"/>
          </a:p>
        </p:txBody>
      </p:sp>
      <p:sp>
        <p:nvSpPr>
          <p:cNvPr id="4" name="Shape 1"/>
          <p:cNvSpPr/>
          <p:nvPr/>
        </p:nvSpPr>
        <p:spPr>
          <a:xfrm>
            <a:off x="457200" y="1325880"/>
            <a:ext cx="4023360" cy="1463040"/>
          </a:xfrm>
          <a:prstGeom prst="roundRect">
            <a:avLst>
              <a:gd name="adj" fmla="val 6250"/>
            </a:avLst>
          </a:prstGeom>
          <a:solidFill>
            <a:schemeClr val="bg2"/>
          </a:solidFill>
          <a:ln/>
        </p:spPr>
      </p:sp>
      <p:sp>
        <p:nvSpPr>
          <p:cNvPr id="5" name="Text 2"/>
          <p:cNvSpPr txBox="1"/>
          <p:nvPr/>
        </p:nvSpPr>
        <p:spPr>
          <a:xfrm>
            <a:off x="640080" y="1463040"/>
            <a:ext cx="3657600" cy="11887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Few attributes</a:t>
            </a:r>
            <a:endParaRPr lang="en-US" sz="1400" dirty="0"/>
          </a:p>
          <a:p>
            <a:pPr indent="0" marL="0">
              <a:spcAft>
                <a:spcPts val="400"/>
              </a:spcAft>
              <a:buNone/>
            </a:pPr>
            <a:r>
              <a:rPr lang="en-US" sz="1400" dirty="0">
                <a:solidFill>
                  <a:schemeClr val="tx1"/>
                </a:solidFill>
              </a:rPr>
              <a:t>Only 4 of 9 relate to churn.</a:t>
            </a:r>
            <a:endParaRPr lang="en-US" sz="1400" dirty="0"/>
          </a:p>
          <a:p>
            <a:pPr indent="0" marL="0">
              <a:spcAft>
                <a:spcPts val="400"/>
              </a:spcAft>
              <a:buNone/>
            </a:pPr>
            <a:r>
              <a:rPr lang="en-US" sz="1400" i="1" dirty="0">
                <a:solidFill>
                  <a:schemeClr val="accent1"/>
                </a:solidFill>
              </a:rPr>
              <a:t>Fix: add usage, billing and support data.</a:t>
            </a:r>
            <a:endParaRPr lang="en-US" sz="1400" dirty="0"/>
          </a:p>
        </p:txBody>
      </p:sp>
      <p:sp>
        <p:nvSpPr>
          <p:cNvPr id="6" name="Shape 3"/>
          <p:cNvSpPr/>
          <p:nvPr/>
        </p:nvSpPr>
        <p:spPr>
          <a:xfrm>
            <a:off x="4663440" y="1325880"/>
            <a:ext cx="4023360" cy="1463040"/>
          </a:xfrm>
          <a:prstGeom prst="roundRect">
            <a:avLst>
              <a:gd name="adj" fmla="val 6250"/>
            </a:avLst>
          </a:prstGeom>
          <a:solidFill>
            <a:schemeClr val="bg2"/>
          </a:solidFill>
          <a:ln/>
        </p:spPr>
      </p:sp>
      <p:sp>
        <p:nvSpPr>
          <p:cNvPr id="7" name="Text 4"/>
          <p:cNvSpPr txBox="1"/>
          <p:nvPr/>
        </p:nvSpPr>
        <p:spPr>
          <a:xfrm>
            <a:off x="4846320" y="1463040"/>
            <a:ext cx="3657600" cy="11887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Unreliable fields</a:t>
            </a:r>
            <a:endParaRPr lang="en-US" sz="1400" dirty="0"/>
          </a:p>
          <a:p>
            <a:pPr indent="0" marL="0">
              <a:spcAft>
                <a:spcPts val="400"/>
              </a:spcAft>
              <a:buNone/>
            </a:pPr>
            <a:r>
              <a:rPr lang="en-US" sz="1400" dirty="0">
                <a:solidFill>
                  <a:schemeClr val="tx1"/>
                </a:solidFill>
              </a:rPr>
              <a:t>Contract and internet show no link to churn.</a:t>
            </a:r>
            <a:endParaRPr lang="en-US" sz="1400" dirty="0"/>
          </a:p>
          <a:p>
            <a:pPr indent="0" marL="0">
              <a:spcAft>
                <a:spcPts val="400"/>
              </a:spcAft>
              <a:buNone/>
            </a:pPr>
            <a:r>
              <a:rPr lang="en-US" sz="1400" i="1" dirty="0">
                <a:solidFill>
                  <a:schemeClr val="accent1"/>
                </a:solidFill>
              </a:rPr>
              <a:t>Fix: verify with the data provider.</a:t>
            </a:r>
            <a:endParaRPr lang="en-US" sz="1400" dirty="0"/>
          </a:p>
        </p:txBody>
      </p:sp>
      <p:sp>
        <p:nvSpPr>
          <p:cNvPr id="8" name="Shape 5"/>
          <p:cNvSpPr/>
          <p:nvPr/>
        </p:nvSpPr>
        <p:spPr>
          <a:xfrm>
            <a:off x="457200" y="2971800"/>
            <a:ext cx="4023360" cy="1463040"/>
          </a:xfrm>
          <a:prstGeom prst="roundRect">
            <a:avLst>
              <a:gd name="adj" fmla="val 6250"/>
            </a:avLst>
          </a:prstGeom>
          <a:solidFill>
            <a:schemeClr val="bg2"/>
          </a:solidFill>
          <a:ln/>
        </p:spPr>
      </p:sp>
      <p:sp>
        <p:nvSpPr>
          <p:cNvPr id="9" name="Text 6"/>
          <p:cNvSpPr txBox="1"/>
          <p:nvPr/>
        </p:nvSpPr>
        <p:spPr>
          <a:xfrm>
            <a:off x="640080" y="3108960"/>
            <a:ext cx="3657600" cy="11887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Duplicate records</a:t>
            </a:r>
            <a:endParaRPr lang="en-US" sz="1400" dirty="0"/>
          </a:p>
          <a:p>
            <a:pPr indent="0" marL="0">
              <a:spcAft>
                <a:spcPts val="400"/>
              </a:spcAft>
              <a:buNone/>
            </a:pPr>
            <a:r>
              <a:rPr lang="en-US" sz="1400" dirty="0">
                <a:solidFill>
                  <a:schemeClr val="tx1"/>
                </a:solidFill>
              </a:rPr>
              <a:t>302 duplicates; clean-test AUC 0.791 vs 0.805.</a:t>
            </a:r>
            <a:endParaRPr lang="en-US" sz="1400" dirty="0"/>
          </a:p>
          <a:p>
            <a:pPr indent="0" marL="0">
              <a:spcAft>
                <a:spcPts val="400"/>
              </a:spcAft>
              <a:buNone/>
            </a:pPr>
            <a:r>
              <a:rPr lang="en-US" sz="1400" i="1" dirty="0">
                <a:solidFill>
                  <a:schemeClr val="accent1"/>
                </a:solidFill>
              </a:rPr>
              <a:t>Fix: add a customer ID.</a:t>
            </a:r>
            <a:endParaRPr lang="en-US" sz="1400" dirty="0"/>
          </a:p>
        </p:txBody>
      </p:sp>
      <p:sp>
        <p:nvSpPr>
          <p:cNvPr id="10" name="Shape 7"/>
          <p:cNvSpPr/>
          <p:nvPr/>
        </p:nvSpPr>
        <p:spPr>
          <a:xfrm>
            <a:off x="4663440" y="2971800"/>
            <a:ext cx="4023360" cy="1463040"/>
          </a:xfrm>
          <a:prstGeom prst="roundRect">
            <a:avLst>
              <a:gd name="adj" fmla="val 6250"/>
            </a:avLst>
          </a:prstGeom>
          <a:solidFill>
            <a:schemeClr val="bg2"/>
          </a:solidFill>
          <a:ln/>
        </p:spPr>
      </p:sp>
      <p:sp>
        <p:nvSpPr>
          <p:cNvPr id="11" name="Text 8"/>
          <p:cNvSpPr txBox="1"/>
          <p:nvPr/>
        </p:nvSpPr>
        <p:spPr>
          <a:xfrm>
            <a:off x="4846320" y="3108960"/>
            <a:ext cx="3657600" cy="11887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Loyal churners missed</a:t>
            </a:r>
            <a:endParaRPr lang="en-US" sz="1400" dirty="0"/>
          </a:p>
          <a:p>
            <a:pPr indent="0" marL="0">
              <a:spcAft>
                <a:spcPts val="400"/>
              </a:spcAft>
              <a:buNone/>
            </a:pPr>
            <a:r>
              <a:rPr lang="en-US" sz="1400" dirty="0">
                <a:solidFill>
                  <a:schemeClr val="tx1"/>
                </a:solidFill>
              </a:rPr>
              <a:t>Only about 12% of long-standing leavers caught.</a:t>
            </a:r>
            <a:endParaRPr lang="en-US" sz="1400" dirty="0"/>
          </a:p>
          <a:p>
            <a:pPr indent="0" marL="0">
              <a:spcAft>
                <a:spcPts val="400"/>
              </a:spcAft>
              <a:buNone/>
            </a:pPr>
            <a:r>
              <a:rPr lang="en-US" sz="1400" i="1" dirty="0">
                <a:solidFill>
                  <a:schemeClr val="accent1"/>
                </a:solidFill>
              </a:rPr>
              <a:t>Fix: add behavioural data.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ChurnDeck">
  <a:themeElements>
    <a:clrScheme name="ChurnDeck">
      <a:dk1>
        <a:srgbClr val="1B2A41"/>
      </a:dk1>
      <a:lt1>
        <a:srgbClr val="FFFFFF"/>
      </a:lt1>
      <a:dk2>
        <a:srgbClr val="4A6076"/>
      </a:dk2>
      <a:lt2>
        <a:srgbClr val="EEF3F7"/>
      </a:lt2>
      <a:accent1>
        <a:srgbClr val="0C7C8A"/>
      </a:accent1>
      <a:accent2>
        <a:srgbClr val="E4572E"/>
      </a:accent2>
      <a:accent3>
        <a:srgbClr val="F2A541"/>
      </a:accent3>
      <a:accent4>
        <a:srgbClr val="6C8EAD"/>
      </a:accent4>
      <a:accent5>
        <a:srgbClr val="2E933C"/>
      </a:accent5>
      <a:accent6>
        <a:srgbClr val="7B6D8D"/>
      </a:accent6>
      <a:hlink>
        <a:srgbClr val="0C7C8A"/>
      </a:hlink>
      <a:folHlink>
        <a:srgbClr val="7B6D8D"/>
      </a:folHlink>
    </a:clrScheme>
    <a:fontScheme name="ChurnD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Prediction with an ANN: Predictive Modeling</dc:title>
  <dc:subject>PptxGenJS Presentation</dc:subject>
  <dc:creator>PptxGenJS</dc:creator>
  <cp:lastModifiedBy>PptxGenJS</cp:lastModifiedBy>
  <cp:revision>1</cp:revision>
  <dcterms:created xsi:type="dcterms:W3CDTF">2026-10-19T09:10:00Z</dcterms:created>
  <dcterms:modified xsi:type="dcterms:W3CDTF">2026-10-19T09:10:00Z</dcterms:modified>
</cp:coreProperties>
</file>